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66" r:id="rId4"/>
    <p:sldId id="267" r:id="rId5"/>
    <p:sldId id="268" r:id="rId6"/>
    <p:sldId id="264" r:id="rId7"/>
  </p:sldIdLst>
  <p:sldSz cx="9144000" cy="5715000" type="screen16x1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580" autoAdjust="0"/>
  </p:normalViewPr>
  <p:slideViewPr>
    <p:cSldViewPr>
      <p:cViewPr varScale="1">
        <p:scale>
          <a:sx n="125" d="100"/>
          <a:sy n="125" d="100"/>
        </p:scale>
        <p:origin x="1170" y="96"/>
      </p:cViewPr>
      <p:guideLst>
        <p:guide orient="horz" pos="180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87500"/>
            <a:ext cx="7543800" cy="2161646"/>
          </a:xfrm>
        </p:spPr>
        <p:txBody>
          <a:bodyPr anchor="b"/>
          <a:lstStyle>
            <a:lvl1pPr>
              <a:defRPr sz="6600">
                <a:ln>
                  <a:noFill/>
                </a:ln>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5800" y="3810000"/>
            <a:ext cx="6461760" cy="8890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9F6EBB4-9F14-45F9-9ECC-1FC6C9D192A0}" type="datetimeFigureOut">
              <a:rPr lang="es-CO" smtClean="0"/>
              <a:t>21/08/2026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E9F6EBB4-9F14-45F9-9ECC-1FC6C9D192A0}" type="datetimeFigureOut">
              <a:rPr lang="es-CO" smtClean="0"/>
              <a:t>21/08/2026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4" y="4572000"/>
            <a:ext cx="7659687" cy="973667"/>
          </a:xfrm>
        </p:spPr>
        <p:txBody>
          <a:bodyPr anchor="t"/>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4" y="3210719"/>
            <a:ext cx="6135687" cy="136128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E9F6EBB4-9F14-45F9-9ECC-1FC6C9D192A0}" type="datetimeFigureOut">
              <a:rPr lang="es-CO" smtClean="0"/>
              <a:t>21/08/2026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457200" y="1280160"/>
            <a:ext cx="3657600" cy="382524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419600" y="1280160"/>
            <a:ext cx="3657600" cy="382524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9F6EBB4-9F14-45F9-9ECC-1FC6C9D192A0}" type="datetimeFigureOut">
              <a:rPr lang="es-CO" smtClean="0"/>
              <a:t>21/08/2026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279261"/>
            <a:ext cx="3657600" cy="533135"/>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457200" y="1812396"/>
            <a:ext cx="3657600"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419600" y="1279261"/>
            <a:ext cx="3657600" cy="533135"/>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419600" y="1812396"/>
            <a:ext cx="3657600"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E9F6EBB4-9F14-45F9-9ECC-1FC6C9D192A0}" type="datetimeFigureOut">
              <a:rPr lang="es-CO" smtClean="0"/>
              <a:t>21/08/2026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E9F6EBB4-9F14-45F9-9ECC-1FC6C9D192A0}" type="datetimeFigureOut">
              <a:rPr lang="es-CO" smtClean="0"/>
              <a:t>21/08/2026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6EBB4-9F14-45F9-9ECC-1FC6C9D192A0}" type="datetimeFigureOut">
              <a:rPr lang="es-CO" smtClean="0"/>
              <a:t>21/08/2026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304801" y="4579620"/>
            <a:ext cx="7772400" cy="495300"/>
          </a:xfrm>
        </p:spPr>
        <p:txBody>
          <a:bodyPr anchor="b"/>
          <a:lstStyle>
            <a:lvl1pPr algn="ctr">
              <a:defRPr sz="2200" b="1"/>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304800" y="5080000"/>
            <a:ext cx="7772401" cy="5080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E9F6EBB4-9F14-45F9-9ECC-1FC6C9D192A0}" type="datetimeFigureOut">
              <a:rPr lang="es-CO" smtClean="0"/>
              <a:t>21/08/2026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A99A7CB-BBF6-4FCE-B911-BC213211DC8E}" type="slidenum">
              <a:rPr lang="es-CO" smtClean="0"/>
              <a:t>‹Nº›</a:t>
            </a:fld>
            <a:endParaRPr lang="es-CO"/>
          </a:p>
        </p:txBody>
      </p:sp>
      <p:sp>
        <p:nvSpPr>
          <p:cNvPr id="9" name="Content Placeholder 8"/>
          <p:cNvSpPr>
            <a:spLocks noGrp="1"/>
          </p:cNvSpPr>
          <p:nvPr>
            <p:ph sz="quarter" idx="13"/>
          </p:nvPr>
        </p:nvSpPr>
        <p:spPr>
          <a:xfrm>
            <a:off x="304800" y="317500"/>
            <a:ext cx="7772400" cy="411903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301752" y="4579398"/>
            <a:ext cx="7772400" cy="495522"/>
          </a:xfrm>
        </p:spPr>
        <p:txBody>
          <a:bodyPr anchor="b"/>
          <a:lstStyle>
            <a:lvl1pPr algn="ctr">
              <a:defRPr sz="2200" b="1">
                <a:ln>
                  <a:noFill/>
                </a:ln>
                <a:solidFill>
                  <a:schemeClr val="tx2"/>
                </a:solidFill>
              </a:defRPr>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0" y="0"/>
            <a:ext cx="84582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301752" y="5080000"/>
            <a:ext cx="7772400" cy="51054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8" name="Date Placeholder 7"/>
          <p:cNvSpPr>
            <a:spLocks noGrp="1"/>
          </p:cNvSpPr>
          <p:nvPr>
            <p:ph type="dt" sz="half" idx="10"/>
          </p:nvPr>
        </p:nvSpPr>
        <p:spPr/>
        <p:txBody>
          <a:bodyPr/>
          <a:lstStyle/>
          <a:p>
            <a:fld id="{E9F6EBB4-9F14-45F9-9ECC-1FC6C9D192A0}" type="datetimeFigureOut">
              <a:rPr lang="es-CO" smtClean="0"/>
              <a:t>21/08/2026</a:t>
            </a:fld>
            <a:endParaRPr lang="es-CO"/>
          </a:p>
        </p:txBody>
      </p:sp>
      <p:sp>
        <p:nvSpPr>
          <p:cNvPr id="9" name="Slide Number Placeholder 8"/>
          <p:cNvSpPr>
            <a:spLocks noGrp="1"/>
          </p:cNvSpPr>
          <p:nvPr>
            <p:ph type="sldNum" sz="quarter" idx="11"/>
          </p:nvPr>
        </p:nvSpPr>
        <p:spPr/>
        <p:txBody>
          <a:bodyPr/>
          <a:lstStyle/>
          <a:p>
            <a:fld id="{9A99A7CB-BBF6-4FCE-B911-BC213211DC8E}" type="slidenum">
              <a:rPr lang="es-CO" smtClean="0"/>
              <a:t>‹Nº›</a:t>
            </a:fld>
            <a:endParaRPr lang="es-CO"/>
          </a:p>
        </p:txBody>
      </p:sp>
      <p:sp>
        <p:nvSpPr>
          <p:cNvPr id="10" name="Footer Placeholder 9"/>
          <p:cNvSpPr>
            <a:spLocks noGrp="1"/>
          </p:cNvSpPr>
          <p:nvPr>
            <p:ph type="ftr" sz="quarter" idx="12"/>
          </p:nvPr>
        </p:nvSpPr>
        <p:spPr/>
        <p:txBody>
          <a:bodyPr/>
          <a:lstStyle/>
          <a:p>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E9F6EBB4-9F14-45F9-9ECC-1FC6C9D192A0}" type="datetimeFigureOut">
              <a:rPr lang="es-CO" smtClean="0"/>
              <a:t>21/08/2026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5"/>
            <a:ext cx="1752600" cy="4876271"/>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28865"/>
            <a:ext cx="6019800" cy="4876271"/>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E9F6EBB4-9F14-45F9-9ECC-1FC6C9D192A0}" type="datetimeFigureOut">
              <a:rPr lang="es-CO" smtClean="0"/>
              <a:t>21/08/2026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A99A7CB-BBF6-4FCE-B911-BC213211DC8E}"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865"/>
            <a:ext cx="7620000" cy="952500"/>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333500"/>
            <a:ext cx="7620000" cy="40005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Rectangle 6"/>
          <p:cNvSpPr/>
          <p:nvPr/>
        </p:nvSpPr>
        <p:spPr>
          <a:xfrm>
            <a:off x="8458200" y="0"/>
            <a:ext cx="685800" cy="5715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4572000"/>
            <a:ext cx="685800" cy="571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4707467"/>
            <a:ext cx="548640" cy="33020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9A99A7CB-BBF6-4FCE-B911-BC213211DC8E}" type="slidenum">
              <a:rPr lang="es-CO" smtClean="0"/>
              <a:t>‹Nº›</a:t>
            </a:fld>
            <a:endParaRPr lang="es-CO"/>
          </a:p>
        </p:txBody>
      </p:sp>
      <p:sp>
        <p:nvSpPr>
          <p:cNvPr id="5" name="Footer Placeholder 4"/>
          <p:cNvSpPr>
            <a:spLocks noGrp="1"/>
          </p:cNvSpPr>
          <p:nvPr>
            <p:ph type="ftr" sz="quarter" idx="3"/>
          </p:nvPr>
        </p:nvSpPr>
        <p:spPr>
          <a:xfrm rot="16200000">
            <a:off x="7784184" y="3343487"/>
            <a:ext cx="1972734" cy="365760"/>
          </a:xfrm>
          <a:prstGeom prst="rect">
            <a:avLst/>
          </a:prstGeom>
        </p:spPr>
        <p:txBody>
          <a:bodyPr vert="horz" lIns="91440" tIns="45720" rIns="91440" bIns="45720" rtlCol="0" anchor="ctr"/>
          <a:lstStyle>
            <a:lvl1pPr algn="r">
              <a:defRPr sz="1200">
                <a:solidFill>
                  <a:schemeClr val="bg2"/>
                </a:solidFill>
              </a:defRPr>
            </a:lvl1pPr>
          </a:lstStyle>
          <a:p>
            <a:endParaRPr lang="es-CO"/>
          </a:p>
        </p:txBody>
      </p:sp>
      <p:sp>
        <p:nvSpPr>
          <p:cNvPr id="4" name="Date Placeholder 3"/>
          <p:cNvSpPr>
            <a:spLocks noGrp="1"/>
          </p:cNvSpPr>
          <p:nvPr>
            <p:ph type="dt" sz="half" idx="2"/>
          </p:nvPr>
        </p:nvSpPr>
        <p:spPr>
          <a:xfrm rot="16200000">
            <a:off x="7754552" y="1341120"/>
            <a:ext cx="2031999" cy="365760"/>
          </a:xfrm>
          <a:prstGeom prst="rect">
            <a:avLst/>
          </a:prstGeom>
        </p:spPr>
        <p:txBody>
          <a:bodyPr vert="horz" lIns="91440" tIns="45720" rIns="91440" bIns="45720" rtlCol="0" anchor="ctr"/>
          <a:lstStyle>
            <a:lvl1pPr algn="l">
              <a:defRPr sz="1200">
                <a:solidFill>
                  <a:schemeClr val="bg2"/>
                </a:solidFill>
              </a:defRPr>
            </a:lvl1pPr>
          </a:lstStyle>
          <a:p>
            <a:fld id="{E9F6EBB4-9F14-45F9-9ECC-1FC6C9D192A0}" type="datetimeFigureOut">
              <a:rPr lang="es-CO" smtClean="0"/>
              <a:t>21/08/2026</a:t>
            </a:fld>
            <a:endParaRPr lang="es-CO"/>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a:t>Matemáticas Computacionales</a:t>
            </a:r>
          </a:p>
        </p:txBody>
      </p:sp>
      <p:sp>
        <p:nvSpPr>
          <p:cNvPr id="3" name="2 Subtítulo"/>
          <p:cNvSpPr>
            <a:spLocks noGrp="1"/>
          </p:cNvSpPr>
          <p:nvPr>
            <p:ph type="subTitle" idx="1"/>
          </p:nvPr>
        </p:nvSpPr>
        <p:spPr/>
        <p:txBody>
          <a:bodyPr/>
          <a:lstStyle/>
          <a:p>
            <a:r>
              <a:rPr lang="es-CO" dirty="0"/>
              <a:t>Sesión 6</a:t>
            </a:r>
          </a:p>
        </p:txBody>
      </p:sp>
    </p:spTree>
    <p:extLst>
      <p:ext uri="{BB962C8B-B14F-4D97-AF65-F5344CB8AC3E}">
        <p14:creationId xmlns:p14="http://schemas.microsoft.com/office/powerpoint/2010/main" val="4280977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Errores de Redondeo</a:t>
            </a: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p:txBody>
              <a:bodyPr>
                <a:normAutofit/>
              </a:bodyPr>
              <a:lstStyle/>
              <a:p>
                <a:pPr marL="114300" indent="0">
                  <a:buNone/>
                </a:pPr>
                <a:r>
                  <a:rPr lang="es-CO" dirty="0"/>
                  <a:t>Anteriormente se mencionó que los números tales como </a:t>
                </a:r>
                <a14:m>
                  <m:oMath xmlns:m="http://schemas.openxmlformats.org/officeDocument/2006/math">
                    <m:r>
                      <a:rPr lang="es-CO" i="1" dirty="0" smtClean="0">
                        <a:latin typeface="Cambria Math"/>
                        <a:ea typeface="Cambria Math"/>
                      </a:rPr>
                      <m:t>𝜋</m:t>
                    </m:r>
                  </m:oMath>
                </a14:m>
                <a:r>
                  <a:rPr lang="es-CO" dirty="0"/>
                  <a:t>, </a:t>
                </a:r>
                <a14:m>
                  <m:oMath xmlns:m="http://schemas.openxmlformats.org/officeDocument/2006/math">
                    <m:r>
                      <a:rPr lang="es-CO" i="1" dirty="0" smtClean="0">
                        <a:latin typeface="Cambria Math"/>
                      </a:rPr>
                      <m:t>𝑒</m:t>
                    </m:r>
                  </m:oMath>
                </a14:m>
                <a:r>
                  <a:rPr lang="es-CO" dirty="0"/>
                  <a:t> o </a:t>
                </a:r>
                <a14:m>
                  <m:oMath xmlns:m="http://schemas.openxmlformats.org/officeDocument/2006/math">
                    <m:rad>
                      <m:radPr>
                        <m:degHide m:val="on"/>
                        <m:ctrlPr>
                          <a:rPr lang="es-CO" i="1" dirty="0" smtClean="0">
                            <a:latin typeface="Cambria Math" panose="02040503050406030204" pitchFamily="18" charset="0"/>
                          </a:rPr>
                        </m:ctrlPr>
                      </m:radPr>
                      <m:deg/>
                      <m:e>
                        <m:r>
                          <a:rPr lang="es-CO" b="0" i="1" dirty="0" smtClean="0">
                            <a:latin typeface="Cambria Math"/>
                          </a:rPr>
                          <m:t>2</m:t>
                        </m:r>
                      </m:e>
                    </m:rad>
                  </m:oMath>
                </a14:m>
                <a:r>
                  <a:rPr lang="es-CO" dirty="0"/>
                  <a:t> no pueden expresarse con un número fijo de cifras significativas. Por lo tanto, no pueden ser representados exactamente por un computador. Además, debido a que los computadores usan una representación en base 2, no pueden representar exactamente algunos números en base 10. Esta discrepancia por la omisión de cifras significativas se denomina </a:t>
                </a:r>
                <a:r>
                  <a:rPr lang="es-CO" b="1" dirty="0"/>
                  <a:t>error de redondeo</a:t>
                </a:r>
                <a:r>
                  <a:rPr lang="es-CO" dirty="0"/>
                  <a:t>.</a:t>
                </a: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blipFill>
                <a:blip r:embed="rId2"/>
                <a:stretch>
                  <a:fillRect t="-1067"/>
                </a:stretch>
              </a:blipFill>
            </p:spPr>
            <p:txBody>
              <a:bodyPr/>
              <a:lstStyle/>
              <a:p>
                <a:r>
                  <a:rPr lang="es-CO">
                    <a:noFill/>
                  </a:rPr>
                  <a:t> </a:t>
                </a:r>
              </a:p>
            </p:txBody>
          </p:sp>
        </mc:Fallback>
      </mc:AlternateContent>
    </p:spTree>
    <p:extLst>
      <p:ext uri="{BB962C8B-B14F-4D97-AF65-F5344CB8AC3E}">
        <p14:creationId xmlns:p14="http://schemas.microsoft.com/office/powerpoint/2010/main" val="1139264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Representación de Números en el Computador (I)</a:t>
            </a:r>
          </a:p>
        </p:txBody>
      </p:sp>
      <p:sp>
        <p:nvSpPr>
          <p:cNvPr id="3" name="2 Marcador de contenido"/>
          <p:cNvSpPr>
            <a:spLocks noGrp="1"/>
          </p:cNvSpPr>
          <p:nvPr>
            <p:ph idx="1"/>
          </p:nvPr>
        </p:nvSpPr>
        <p:spPr/>
        <p:txBody>
          <a:bodyPr>
            <a:normAutofit fontScale="92500" lnSpcReduction="10000"/>
          </a:bodyPr>
          <a:lstStyle/>
          <a:p>
            <a:pPr marL="114300" indent="0">
              <a:buNone/>
            </a:pPr>
            <a:r>
              <a:rPr lang="es-CO" dirty="0"/>
              <a:t>La unidad fundamental mediante la cual se representa la información en un computador se denomina </a:t>
            </a:r>
            <a:r>
              <a:rPr lang="es-CO" b="1" dirty="0"/>
              <a:t>palabra</a:t>
            </a:r>
            <a:r>
              <a:rPr lang="es-CO" dirty="0"/>
              <a:t> (</a:t>
            </a:r>
            <a:r>
              <a:rPr lang="es-CO" dirty="0" err="1"/>
              <a:t>word</a:t>
            </a:r>
            <a:r>
              <a:rPr lang="es-CO" dirty="0"/>
              <a:t>). Esta representa el tamaño de </a:t>
            </a:r>
            <a:r>
              <a:rPr lang="es-ES" dirty="0"/>
              <a:t>la unidad de datos que un procesador puede manejar de manera natural en una sola operación</a:t>
            </a:r>
            <a:r>
              <a:rPr lang="es-CO" i="1" dirty="0"/>
              <a:t>. </a:t>
            </a:r>
            <a:r>
              <a:rPr lang="es-CO" dirty="0"/>
              <a:t>Consiste en una cadena de </a:t>
            </a:r>
            <a:r>
              <a:rPr lang="es-CO" b="1" dirty="0"/>
              <a:t>dígitos binarios </a:t>
            </a:r>
            <a:r>
              <a:rPr lang="es-CO" dirty="0"/>
              <a:t>o </a:t>
            </a:r>
            <a:r>
              <a:rPr lang="es-CO" b="1" dirty="0"/>
              <a:t>bits</a:t>
            </a:r>
            <a:r>
              <a:rPr lang="es-CO" i="1" dirty="0"/>
              <a:t>. </a:t>
            </a:r>
            <a:r>
              <a:rPr lang="es-CO" dirty="0"/>
              <a:t>Por lo general los números son guardados en una o más palabras.</a:t>
            </a:r>
          </a:p>
          <a:p>
            <a:pPr marL="114300" indent="0">
              <a:buNone/>
            </a:pPr>
            <a:endParaRPr lang="es-CO" dirty="0"/>
          </a:p>
          <a:p>
            <a:pPr marL="114300" indent="0">
              <a:buNone/>
            </a:pPr>
            <a:r>
              <a:rPr lang="es-CO" b="1" dirty="0"/>
              <a:t>Sistemas numéricos: </a:t>
            </a:r>
            <a:r>
              <a:rPr lang="es-CO" dirty="0"/>
              <a:t>Un sistema numérico es simplemente una convención para representar cantidades. Nuestro sistema numérico es el decimal o de base 10. Una base es el número que se usa como referencia para construir un sistema. El sistema de base 10 utiliza 10 dígitos (0, 1, 2, 3, 4, 5, 6, 7, 8, 9) para representar números. Tales dígitos son satisfactorios por sí mismos para contar de 0 a 9.</a:t>
            </a:r>
          </a:p>
        </p:txBody>
      </p:sp>
    </p:spTree>
    <p:extLst>
      <p:ext uri="{BB962C8B-B14F-4D97-AF65-F5344CB8AC3E}">
        <p14:creationId xmlns:p14="http://schemas.microsoft.com/office/powerpoint/2010/main" val="255676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Representación de Números en el Computador (II)</a:t>
            </a:r>
          </a:p>
        </p:txBody>
      </p:sp>
      <p:sp>
        <p:nvSpPr>
          <p:cNvPr id="3" name="2 Marcador de contenido"/>
          <p:cNvSpPr>
            <a:spLocks noGrp="1"/>
          </p:cNvSpPr>
          <p:nvPr>
            <p:ph idx="1"/>
          </p:nvPr>
        </p:nvSpPr>
        <p:spPr/>
        <p:txBody>
          <a:bodyPr>
            <a:normAutofit fontScale="92500" lnSpcReduction="20000"/>
          </a:bodyPr>
          <a:lstStyle/>
          <a:p>
            <a:pPr marL="114300" indent="0">
              <a:buNone/>
            </a:pPr>
            <a:r>
              <a:rPr lang="es-CO" dirty="0"/>
              <a:t>Para grandes cantidades se usa la combinación de estos dígitos básicos; con la posición o </a:t>
            </a:r>
            <a:r>
              <a:rPr lang="es-CO" b="1" dirty="0"/>
              <a:t>valor de posición </a:t>
            </a:r>
            <a:r>
              <a:rPr lang="es-CO" dirty="0"/>
              <a:t>se especifica su magnitud. El dígito en el extremo derecho de un número entero representa un número del 0 al 9. El segundo dígito a partir de la derecha representa un múltiplo de 10. El tercer dígito a partir de la derecha representa un múltiplo de 100 y así sucesivamente.</a:t>
            </a:r>
          </a:p>
          <a:p>
            <a:pPr marL="114300" indent="0">
              <a:buNone/>
            </a:pPr>
            <a:endParaRPr lang="es-CO" dirty="0"/>
          </a:p>
          <a:p>
            <a:pPr marL="114300" indent="0">
              <a:buNone/>
            </a:pPr>
            <a:r>
              <a:rPr lang="es-CO" dirty="0"/>
              <a:t>Además del sistema decimal existen otras alternativas. Por ejemplo, si el ser humano tuviera ocho dedos en las manos, probablemente se tendría una representación en un sistema octal o de base 8. Los computadores funcionan internamente con dos estados: 0 o 1. Esto se relaciona con el hecho de que las unidades lógicas fundamentales de los computadores digitales sean componentes electrónicos de apagado/encendido. Por lo tanto, los números en el computador se representan con un sistema binario o de base 2.</a:t>
            </a:r>
          </a:p>
        </p:txBody>
      </p:sp>
    </p:spTree>
    <p:extLst>
      <p:ext uri="{BB962C8B-B14F-4D97-AF65-F5344CB8AC3E}">
        <p14:creationId xmlns:p14="http://schemas.microsoft.com/office/powerpoint/2010/main" val="327030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Representación Entera</a:t>
            </a:r>
          </a:p>
        </p:txBody>
      </p:sp>
      <p:sp>
        <p:nvSpPr>
          <p:cNvPr id="3" name="2 Marcador de contenido"/>
          <p:cNvSpPr>
            <a:spLocks noGrp="1"/>
          </p:cNvSpPr>
          <p:nvPr>
            <p:ph idx="1"/>
          </p:nvPr>
        </p:nvSpPr>
        <p:spPr/>
        <p:txBody>
          <a:bodyPr>
            <a:normAutofit fontScale="92500" lnSpcReduction="10000"/>
          </a:bodyPr>
          <a:lstStyle/>
          <a:p>
            <a:pPr marL="114300" indent="0">
              <a:buNone/>
            </a:pPr>
            <a:r>
              <a:rPr lang="es-CO" dirty="0"/>
              <a:t>Un método sencillo de representación entera es el denominado </a:t>
            </a:r>
            <a:r>
              <a:rPr lang="es-CO" b="1" dirty="0"/>
              <a:t>método de magnitud con signo </a:t>
            </a:r>
            <a:r>
              <a:rPr lang="es-CO" dirty="0"/>
              <a:t>y emplea el primer bit de una palabra para indicar el signo: con un 0 para positivo y un 1 para el negativo. Los bits restantes se usan para guardar el número.</a:t>
            </a:r>
          </a:p>
          <a:p>
            <a:pPr marL="114300" indent="0">
              <a:buNone/>
            </a:pPr>
            <a:endParaRPr lang="es-CO" dirty="0"/>
          </a:p>
          <a:p>
            <a:pPr marL="114300" indent="0">
              <a:buNone/>
            </a:pPr>
            <a:r>
              <a:rPr lang="es-CO" dirty="0"/>
              <a:t>El método de magnitud con signo descrito antes no se utiliza para representar enteros en computadores convencionales. Se prefiere usar una técnica llamada </a:t>
            </a:r>
            <a:r>
              <a:rPr lang="es-CO" b="1" dirty="0"/>
              <a:t>complemento de 2 </a:t>
            </a:r>
            <a:r>
              <a:rPr lang="es-CO" dirty="0"/>
              <a:t>que incorpora en forma directa el signo dentro de la magnitud del número, en lugar de emplear un bit adicional para representar el mas (+) o el menos (-). En ambos casos, los computadores digitales están limitados en cuanto a su capacidad para representar enteros, esto es, los números por encima o por debajo de este rango no pueden representarse.</a:t>
            </a:r>
          </a:p>
        </p:txBody>
      </p:sp>
    </p:spTree>
    <p:extLst>
      <p:ext uri="{BB962C8B-B14F-4D97-AF65-F5344CB8AC3E}">
        <p14:creationId xmlns:p14="http://schemas.microsoft.com/office/powerpoint/2010/main" val="123896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Taller 6</a:t>
            </a:r>
          </a:p>
        </p:txBody>
      </p:sp>
      <p:sp>
        <p:nvSpPr>
          <p:cNvPr id="3" name="2 Marcador de contenido"/>
          <p:cNvSpPr>
            <a:spLocks noGrp="1"/>
          </p:cNvSpPr>
          <p:nvPr>
            <p:ph idx="1"/>
          </p:nvPr>
        </p:nvSpPr>
        <p:spPr/>
        <p:txBody>
          <a:bodyPr>
            <a:normAutofit/>
          </a:bodyPr>
          <a:lstStyle/>
          <a:p>
            <a:pPr marL="114300" indent="0">
              <a:buNone/>
            </a:pPr>
            <a:r>
              <a:rPr lang="es-CO" dirty="0"/>
              <a:t>Crea un programa que solicite al usuario dos números enteros entre -32.768 y 32.767, los convierta a su representación binaria de 16 bits en listas y realice la operación de suma entre ellos implementando el método de </a:t>
            </a:r>
            <a:r>
              <a:rPr lang="es-CO" b="1" dirty="0"/>
              <a:t>complemento a dos </a:t>
            </a:r>
            <a:r>
              <a:rPr lang="es-CO" dirty="0"/>
              <a:t>sobre las listas para números binarios de 16 bits.</a:t>
            </a:r>
          </a:p>
          <a:p>
            <a:pPr marL="114300" indent="0">
              <a:buNone/>
            </a:pPr>
            <a:endParaRPr lang="es-CO" dirty="0"/>
          </a:p>
          <a:p>
            <a:pPr marL="114300" indent="0">
              <a:buNone/>
            </a:pPr>
            <a:r>
              <a:rPr lang="es-CO" dirty="0"/>
              <a:t>El programa debe mostrar en pantalla las listas con todos los números en complemento a dos y el resultado final de la suma convertido nuevamente a base 10.</a:t>
            </a:r>
          </a:p>
        </p:txBody>
      </p:sp>
    </p:spTree>
    <p:extLst>
      <p:ext uri="{BB962C8B-B14F-4D97-AF65-F5344CB8AC3E}">
        <p14:creationId xmlns:p14="http://schemas.microsoft.com/office/powerpoint/2010/main" val="16098156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yacencia">
  <a:themeElements>
    <a:clrScheme name="Adyacencia">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yacencia">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452</TotalTime>
  <Words>642</Words>
  <Application>Microsoft Office PowerPoint</Application>
  <PresentationFormat>Presentación en pantalla (16:10)</PresentationFormat>
  <Paragraphs>20</Paragraphs>
  <Slides>6</Slides>
  <Notes>0</Notes>
  <HiddenSlides>1</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Cambria</vt:lpstr>
      <vt:lpstr>Cambria Math</vt:lpstr>
      <vt:lpstr>Adyacencia</vt:lpstr>
      <vt:lpstr>Matemáticas Computacionales</vt:lpstr>
      <vt:lpstr>Errores de Redondeo</vt:lpstr>
      <vt:lpstr>Representación de Números en el Computador (I)</vt:lpstr>
      <vt:lpstr>Representación de Números en el Computador (II)</vt:lpstr>
      <vt:lpstr>Representación Entera</vt:lpstr>
      <vt:lpstr>Taller 6</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Matemáticas Computacionales</dc:title>
  <dc:creator>E</dc:creator>
  <cp:lastModifiedBy>Feisar Enrique Moreno Corzo</cp:lastModifiedBy>
  <cp:revision>116</cp:revision>
  <dcterms:created xsi:type="dcterms:W3CDTF">2015-07-22T01:13:42Z</dcterms:created>
  <dcterms:modified xsi:type="dcterms:W3CDTF">2026-08-21T13:57:13Z</dcterms:modified>
</cp:coreProperties>
</file>